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Mosa.</a:t>
            </a:r>
          </a:p>
          <a:p>
            <a:r>
              <a:t>Introduce the team and the one-line promise.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Mosa.</a:t>
            </a:r>
          </a:p>
          <a:p>
            <a:r>
              <a:t>Frame each audience's pain, then land the response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Mosa.</a:t>
            </a:r>
          </a:p>
          <a:p>
            <a:r>
              <a:t>Say aloud: roles live in server-issued custom claims and are enforced in Firestore security rules and every Cloud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Mosa.</a:t>
            </a:r>
          </a:p>
          <a:p>
            <a:r>
              <a:t>Demo step 1 proves the student gate live. Stress that the alumni flow never reveals whether a record 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Lindelani.</a:t>
            </a:r>
          </a:p>
          <a:p>
            <a:r>
              <a:t>Point at the populated sections on Thabo's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Lindelani.</a:t>
            </a:r>
          </a:p>
          <a:p>
            <a:r>
              <a:t>If time allows, paste a short CV in the demo and show fields filling in (about 4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Evan.</a:t>
            </a:r>
          </a:p>
          <a:p>
            <a:r>
              <a:t>Demo steps 4–5: connect with Aisha, open Lerato's profile, send a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Evan.</a:t>
            </a:r>
          </a:p>
          <a:p>
            <a:r>
              <a:t>When the admin publishes an event in the demo, switch to Thabo and show the bell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Ina.</a:t>
            </a:r>
          </a:p>
          <a:p>
            <a:r>
              <a:t>Demo step 2: ask the assistant "What should I improve first?" First reply can take a few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Ina (pathways) and Dali (matching).</a:t>
            </a:r>
          </a:p>
          <a:p>
            <a:r>
              <a:t>Demo steps 6–8: employer posts, admin approves, Thabo sees the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Dali.</a:t>
            </a:r>
          </a:p>
          <a:p>
            <a:r>
              <a:t>Walk left to right: sign in → claims; realtime reads from Firestore; every write through a Cloud Function; functions call Gemini and send pushes.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Dali.</a:t>
            </a:r>
          </a:p>
          <a:p>
            <a:r>
              <a:t>Flutter was the serious alternative; the deciding factor was one language across client and Cloud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Dali.</a:t>
            </a:r>
          </a:p>
          <a:p>
            <a:r>
              <a:t>Be upfront about the trade-off; judges reward honesty. We considered Supabase for relational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Dali.</a:t>
            </a:r>
          </a:p>
          <a:p>
            <a:r>
              <a:t>All figures are computed server-side from live data; open one dashboard per role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Lindelani.</a:t>
            </a:r>
          </a:p>
          <a:p>
            <a:r>
              <a:t>Honest limit to say aloud: software alone cannot certify POPIA compliance — that needs Richfield's Information Officer.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Dali.</a:t>
            </a:r>
          </a:p>
          <a:p>
            <a:r>
              <a:t>Demo steps 7 and 9: approve the listing, then moderation, analytics and a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Dali.</a:t>
            </a:r>
          </a:p>
          <a:p>
            <a:r>
              <a:t>Be honest here; judges reward it. Adjust the lists if anything changes before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presenters.</a:t>
            </a:r>
          </a:p>
          <a:p>
            <a:r>
              <a:t>If a demo step failed live, offer the backup recording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Richfield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DCE4FF"/>
                </a:solidFill>
                <a:latin typeface="Arial"/>
              </a:rPr>
              <a:t>From enrolment to employment, in one verified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8C4E6"/>
                </a:solidFill>
                <a:latin typeface="Arial"/>
              </a:rPr>
              <a:t>A mobile professional network for Richfield and AAA students, alumni, employers and staff.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Team GritSim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5332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CE4FF"/>
                </a:solidFill>
                <a:latin typeface="Arial"/>
              </a:rPr>
              <a:t>Mosa  ·  Dali  ·  Ina  ·  Lindelani  ·  Evan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The problem, and our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64792"/>
            <a:ext cx="64008" cy="2779776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28216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3A8A"/>
                </a:solidFill>
                <a:latin typeface="Arial"/>
              </a:rP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320040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Compete on visible portfolios and networks, not only qualifications.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Struggle to be seen by employers before they graduate.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764792"/>
            <a:ext cx="64008" cy="27797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28216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766E"/>
                </a:solidFill>
                <a:latin typeface="Arial"/>
              </a:rPr>
              <a:t>Alumni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30552"/>
            <a:ext cx="320040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Lose their institutional email at graduation.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Fall out of the network exactly when they could mentor and hire.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0020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764792"/>
            <a:ext cx="64008" cy="27797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728216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45309"/>
                </a:solidFill>
                <a:latin typeface="Arial"/>
              </a:rPr>
              <a:t>Employers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130552"/>
            <a:ext cx="320040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Can't easily find verified Richfield talent.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Have no trusted channel to reach the right students.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11100816" cy="1234440"/>
          </a:xfrm>
          <a:prstGeom prst="roundRect">
            <a:avLst>
              <a:gd name="adj" fmla="val 8000"/>
            </a:avLst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1051560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Our response: </a:t>
            </a:r>
            <a:r>
              <a:rPr sz="2000" b="0">
                <a:solidFill>
                  <a:srgbClr val="FFFFFF"/>
                </a:solidFill>
                <a:latin typeface="Arial"/>
              </a:rPr>
              <a:t>a mobile network where every account is verified, every profile is a portfolio, and every opportunity is matched to the students it fits.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AUTHENTICATION &amp; AUTHORISATION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Four user types, four access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100816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657600"/>
                <a:gridCol w="3017520"/>
                <a:gridCol w="2871216"/>
              </a:tblGrid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 they get in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they can do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they cannot do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1828"/>
                          </a:solidFill>
                          <a:latin typeface="Arial"/>
                        </a:rPr>
                        <a:t>Student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Institutional email only (@my.richfield.ac.za, @richfield.ac.za, @my.aaa.ac.za, @aaa.ac.za)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Build a portfolio, connect, apply, get matched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See sections others haven't shared with them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1828"/>
                          </a:solidFill>
                          <a:latin typeface="Arial"/>
                        </a:rPr>
                        <a:t>Alumni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Registry-verified identity + email link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Mentor, recommend, share career journeys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Read the alumni registry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1828"/>
                          </a:solidFill>
                          <a:latin typeface="Arial"/>
                        </a:rPr>
                        <a:t>Employer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Registration + administrator approval gate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Post opportunities, discover talent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Use the app before approval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1828"/>
                          </a:solidFill>
                          <a:latin typeface="Arial"/>
                        </a:rPr>
                        <a:t>Administrator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Provisioned out-of-band by script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Approve, moderate, run events, broadcast, analytics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01828"/>
                          </a:solidFill>
                          <a:latin typeface="Arial"/>
                        </a:rPr>
                        <a:t>Self-register; suspend another administrator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77840"/>
            <a:ext cx="11100816" cy="658368"/>
          </a:xfrm>
          <a:prstGeom prst="roundRect">
            <a:avLst>
              <a:gd name="adj" fmla="val 15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14416"/>
            <a:ext cx="106070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766E"/>
                </a:solidFill>
                <a:latin typeface="Arial"/>
              </a:rPr>
              <a:t>Security boundary: </a:t>
            </a:r>
            <a:r>
              <a:rPr sz="1500" b="0">
                <a:solidFill>
                  <a:srgbClr val="101828"/>
                </a:solidFill>
                <a:latin typeface="Arial"/>
              </a:rPr>
              <a:t>roles are server-issued Firebase custom claims, enforced by Firestore rules and every Cloud Function. Hiding a screen is never the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Authentication designed for each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19072"/>
            <a:ext cx="64008" cy="1911096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3A8A"/>
                </a:solidFill>
                <a:latin typeface="Arial"/>
              </a:rPr>
              <a:t>Students — institutional domain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507492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A Firebase blocking function (beforeUserCreated) rejects any non-institutional email server-side.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The app's check is only a convenience.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55448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719072"/>
            <a:ext cx="64008" cy="19110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682496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766E"/>
                </a:solidFill>
                <a:latin typeface="Arial"/>
              </a:rPr>
              <a:t>Alumni — our researched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084832"/>
            <a:ext cx="507492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01828"/>
                </a:solidFill>
                <a:latin typeface="Arial"/>
              </a:rPr>
              <a:t>Student number + personal email + national ID or birthdate, matched against a private registry.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01828"/>
                </a:solidFill>
                <a:latin typeface="Arial"/>
              </a:rPr>
              <a:t>Identical response on match or no match (no enumeration). 5 attempts / 15 min per identity, email and IP.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01828"/>
                </a:solidFill>
                <a:latin typeface="Arial"/>
              </a:rPr>
              <a:t>One-time 15-minute session, then an email link proves inbox ownership.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42231"/>
            <a:ext cx="64008" cy="19110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05655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45309"/>
                </a:solidFill>
                <a:latin typeface="Arial"/>
              </a:rPr>
              <a:t>Employers — approval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07991"/>
            <a:ext cx="507492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A short-lived, server-issued registration intent is required to sign up.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Accounts stay locked (isApproved: false) until an administrator approves.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977639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4142231"/>
            <a:ext cx="64008" cy="1911096"/>
          </a:xfrm>
          <a:prstGeom prst="rect">
            <a:avLst/>
          </a:prstGeom>
          <a:solidFill>
            <a:srgbClr val="0B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4105655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1B4D"/>
                </a:solidFill>
                <a:latin typeface="Arial"/>
              </a:rPr>
              <a:t>Administrators — no sign-up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507991"/>
            <a:ext cx="507492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Created only by a CLI script with service-account credentials (admin/provision-admin.mjs).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App Check on every callable in production blocks scripted abuse.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USER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Profiles as digital portfolios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Full brief schema: </a:t>
            </a:r>
            <a:r>
              <a:rPr sz="1700" b="0">
                <a:solidFill>
                  <a:srgbClr val="101828"/>
                </a:solidFill>
                <a:latin typeface="Arial"/>
              </a:rPr>
              <a:t>headline, summary, programme, campus, enrolment and graduation year.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Evidence employers trust: </a:t>
            </a:r>
            <a:r>
              <a:rPr sz="1700" b="0">
                <a:solidFill>
                  <a:srgbClr val="101828"/>
                </a:solidFill>
                <a:latin typeface="Arial"/>
              </a:rPr>
              <a:t>qualifications, certifications, work experience, entrepreneurial ventures.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Proof of skill: </a:t>
            </a:r>
            <a:r>
              <a:rPr sz="1700" b="0">
                <a:solidFill>
                  <a:srgbClr val="101828"/>
                </a:solidFill>
                <a:latin typeface="Arial"/>
              </a:rPr>
              <a:t>GitHub projects, deployed apps, digital badges and Credly.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The whole person: </a:t>
            </a:r>
            <a:r>
              <a:rPr sz="1700" b="0">
                <a:solidFill>
                  <a:srgbClr val="101828"/>
                </a:solidFill>
                <a:latin typeface="Arial"/>
              </a:rPr>
              <a:t>achievements, leadership roles, clubs, hackathons, volunteering, career interests.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Employers too: </a:t>
            </a:r>
            <a:r>
              <a:rPr sz="1700" b="0">
                <a:solidFill>
                  <a:srgbClr val="101828"/>
                </a:solidFill>
                <a:latin typeface="Arial"/>
              </a:rPr>
              <a:t>company profile including the graduates and skills they are seeking.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Profile strength meter </a:t>
            </a:r>
            <a:r>
              <a:rPr sz="1700" b="0">
                <a:solidFill>
                  <a:srgbClr val="101828"/>
                </a:solidFill>
                <a:latin typeface="Arial"/>
              </a:rPr>
              <a:t>shows members what to add next to stand out in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5593" y="1335024"/>
            <a:ext cx="2202654" cy="469087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5-profile-view-tha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889" y="1417320"/>
            <a:ext cx="203806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80" y="607161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Thabo's portfolio, as another member sees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USER PROFILES · EXTRA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Endorsements, recommendations and AI CV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64792"/>
            <a:ext cx="64008" cy="1773936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28216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3A8A"/>
                </a:solidFill>
                <a:latin typeface="Arial"/>
              </a:rPr>
              <a:t>Skill endorsements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30632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01828"/>
                </a:solidFill>
                <a:latin typeface="Arial"/>
              </a:rPr>
              <a:t>One per endorser per skill, validated server-side.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002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764792"/>
            <a:ext cx="64008" cy="17739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28216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766E"/>
                </a:solidFill>
                <a:latin typeface="Arial"/>
              </a:rPr>
              <a:t>Written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30552"/>
            <a:ext cx="30632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From connections, alumni, employers or staff. Author identity comes from the server, never the request. Reportable.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0408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50792"/>
            <a:ext cx="64008" cy="20025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14216"/>
            <a:ext cx="6675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45309"/>
                </a:solidFill>
                <a:latin typeface="Arial"/>
              </a:rPr>
              <a:t>NLP-assisted profile 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16552"/>
            <a:ext cx="66751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Paste a CV: Google Gemini extracts headline, summary, skills, qualifications and experience as strict JSON.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Validated and length-capped server-side, told never to invent facts, and nothing saves until the member confirms.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Only a hash of the CV text is kept.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5593" y="1335024"/>
            <a:ext cx="2202654" cy="469087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7-portfolio-str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889" y="1417320"/>
            <a:ext cx="2038062" cy="45262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83880" y="607161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Portfolio editor with strength meter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SOCIAL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Connections and a personalised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0">
                <a:solidFill>
                  <a:srgbClr val="101828"/>
                </a:solidFill>
                <a:latin typeface="Arial"/>
              </a:rPr>
              <a:t>Find people by name, skill, campus or role; send, accept or decline requests.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0">
                <a:solidFill>
                  <a:srgbClr val="101828"/>
                </a:solidFill>
                <a:latin typeface="Arial"/>
              </a:rPr>
              <a:t>Direct messaging between connected members only, enforced server-side.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0">
                <a:solidFill>
                  <a:srgbClr val="101828"/>
                </a:solidFill>
                <a:latin typeface="Arial"/>
              </a:rPr>
              <a:t>Posts, reactions and comments, with reporting to moderators.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69494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6492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3A8A"/>
                </a:solidFill>
                <a:latin typeface="Arial"/>
              </a:rPr>
              <a:t>Role-differentiated feed ranking, per 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6492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01828"/>
                </a:solidFill>
                <a:latin typeface="Arial"/>
              </a:rPr>
              <a:t>score = role affinity × 100 + freshness × 40 + reactions × 2 + comments ×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6492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467"/>
                </a:solidFill>
                <a:latin typeface="Arial"/>
              </a:rPr>
              <a:t>Freshness decays over 72 hours. Affinity depends on who is reading: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467"/>
                </a:solidFill>
                <a:latin typeface="Arial"/>
              </a:rPr>
              <a:t>students rank employers (1.5×) and alumni (1.4×) higher; employers rank alumni (1.6×) and students (1.5×) higher.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5593" y="1335024"/>
            <a:ext cx="2202654" cy="469087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3-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889" y="1417320"/>
            <a:ext cx="2038062" cy="4526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3880" y="607161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Direct messaging between connections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EXTRA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Real-time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Live listeners, no polling: </a:t>
            </a:r>
            <a:r>
              <a:rPr sz="1700" b="0">
                <a:solidFill>
                  <a:srgbClr val="101828"/>
                </a:solidFill>
                <a:latin typeface="Arial"/>
              </a:rPr>
              <a:t>Firestore onSnapshot for the feed, messages, connections, approvals and the inbox.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In-app notification inbox: </a:t>
            </a:r>
            <a:r>
              <a:rPr sz="1700" b="0">
                <a:solidFill>
                  <a:srgbClr val="101828"/>
                </a:solidFill>
                <a:latin typeface="Arial"/>
              </a:rPr>
              <a:t>a bell on every tab with a live unread badge and a toast for new alerts.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Push notifications (FCM): </a:t>
            </a:r>
            <a:r>
              <a:rPr sz="1700" b="0">
                <a:solidFill>
                  <a:srgbClr val="101828"/>
                </a:solidFill>
                <a:latin typeface="Arial"/>
              </a:rPr>
              <a:t>Firestore-triggered Cloud Functions notify connection requests, acceptances, messages, opportunity matches, events and announcements.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1D3A8A"/>
                </a:solidFill>
                <a:latin typeface="Arial"/>
              </a:rPr>
              <a:t>▪  </a:t>
            </a:r>
            <a:r>
              <a:rPr sz="1700" b="1">
                <a:solidFill>
                  <a:srgbClr val="101828"/>
                </a:solidFill>
                <a:latin typeface="Arial"/>
              </a:rPr>
              <a:t>Targeted, not broadcast: </a:t>
            </a:r>
            <a:r>
              <a:rPr sz="1700" b="0">
                <a:solidFill>
                  <a:srgbClr val="101828"/>
                </a:solidFill>
                <a:latin typeface="Arial"/>
              </a:rPr>
              <a:t>a published event only notifies students whose programme or interests match its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5593" y="1335024"/>
            <a:ext cx="2202654" cy="469087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3-notification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889" y="1417320"/>
            <a:ext cx="203806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80" y="607161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Notification inbox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ONBOARDING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Onboarding, AI assistant and guided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Structured onboarding: </a:t>
            </a:r>
            <a:r>
              <a:rPr sz="1500" b="0">
                <a:solidFill>
                  <a:srgbClr val="101828"/>
                </a:solidFill>
                <a:latin typeface="Arial"/>
              </a:rPr>
              <a:t>identity → programme and campus → skills → evidence → review.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AI coach reviews the draft </a:t>
            </a:r>
            <a:r>
              <a:rPr sz="1500" b="0">
                <a:solidFill>
                  <a:srgbClr val="101828"/>
                </a:solidFill>
                <a:latin typeface="Arial"/>
              </a:rPr>
              <a:t>before it is saved, so feedback is about what the member just wrote.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Always-on assistant tab </a:t>
            </a:r>
            <a:r>
              <a:rPr sz="1500" b="0">
                <a:solidFill>
                  <a:srgbClr val="101828"/>
                </a:solidFill>
                <a:latin typeface="Arial"/>
              </a:rPr>
              <a:t>with conversation memory (last 12 messages).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Interactive guided tour per role: </a:t>
            </a:r>
            <a:r>
              <a:rPr sz="1500" b="0">
                <a:solidFill>
                  <a:srgbClr val="101828"/>
                </a:solidFill>
                <a:latin typeface="Arial"/>
              </a:rPr>
              <a:t>it moves through the member's key screens and the AI writes each explanation from their live profile. Members can ask questions at any step.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Genuine AI, not a script: </a:t>
            </a:r>
            <a:r>
              <a:rPr sz="1500" b="0">
                <a:solidFill>
                  <a:srgbClr val="101828"/>
                </a:solidFill>
                <a:latin typeface="Arial"/>
              </a:rPr>
              <a:t>Google Gemini, called only from Cloud Functions, so the key never reaches a device. Automatic retry and fallback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4500" y="1380744"/>
            <a:ext cx="2161481" cy="459943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assistant-re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96" y="1463040"/>
            <a:ext cx="1996889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602589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AI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1980" y="1380744"/>
            <a:ext cx="2161481" cy="459943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tour-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276" y="1463040"/>
            <a:ext cx="1996889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602589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Guided tour 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OPPORTUNITIES &amp; CAREERS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Opportunities, events and career pathways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Employers post </a:t>
            </a:r>
            <a:r>
              <a:rPr sz="1500" b="0">
                <a:solidFill>
                  <a:srgbClr val="101828"/>
                </a:solidFill>
                <a:latin typeface="Arial"/>
              </a:rPr>
              <a:t>internships, learnerships, part-time and graduate roles.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Administrator approval gate: </a:t>
            </a:r>
            <a:r>
              <a:rPr sz="1500" b="0">
                <a:solidFill>
                  <a:srgbClr val="101828"/>
                </a:solidFill>
                <a:latin typeface="Arial"/>
              </a:rPr>
              <a:t>listings are invisible to students until published.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Smart matching on approval: </a:t>
            </a:r>
            <a:r>
              <a:rPr sz="1500" b="0">
                <a:solidFill>
                  <a:srgbClr val="101828"/>
                </a:solidFill>
                <a:latin typeface="Arial"/>
              </a:rPr>
              <a:t>skill similarity × 0.85 + programme match × 0.15. Students see a match % and only matched students are notified.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Search and filters </a:t>
            </a:r>
            <a:r>
              <a:rPr sz="1500" b="0">
                <a:solidFill>
                  <a:srgbClr val="101828"/>
                </a:solidFill>
                <a:latin typeface="Arial"/>
              </a:rPr>
              <a:t>by type, with a "matched to me" switch.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Institutional events </a:t>
            </a:r>
            <a:r>
              <a:rPr sz="1500" b="0">
                <a:solidFill>
                  <a:srgbClr val="101828"/>
                </a:solidFill>
                <a:latin typeface="Arial"/>
              </a:rPr>
              <a:t>— career fairs, workshops, info sessions — with RSVP and capacity.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1D3A8A"/>
                </a:solidFill>
                <a:latin typeface="Arial"/>
              </a:rPr>
              <a:t>▪  </a:t>
            </a:r>
            <a:r>
              <a:rPr sz="1500" b="1">
                <a:solidFill>
                  <a:srgbClr val="101828"/>
                </a:solidFill>
                <a:latin typeface="Arial"/>
              </a:rPr>
              <a:t>Career pathway explorer: </a:t>
            </a:r>
            <a:r>
              <a:rPr sz="1500" b="0">
                <a:solidFill>
                  <a:srgbClr val="101828"/>
                </a:solidFill>
                <a:latin typeface="Arial"/>
              </a:rPr>
              <a:t>where graduates of a programme work now and the roles that got them there.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4500" y="1380744"/>
            <a:ext cx="2161481" cy="459943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2-student-opportunities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96" y="1463040"/>
            <a:ext cx="1996889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602589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Opportunities with match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1980" y="1380744"/>
            <a:ext cx="2161481" cy="459943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6-career-path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276" y="1463040"/>
            <a:ext cx="1996889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602589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Career pathways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React Native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83864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Android · iOS · Web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React Native Paper (MD3)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002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Auth +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20824"/>
            <a:ext cx="2651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sign in · blocking 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69748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App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18104"/>
            <a:ext cx="2651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verified app instances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79476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8862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Cloud Firestore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15384"/>
            <a:ext cx="2651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security rules · realtime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89204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9834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Cloud Functions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312664"/>
            <a:ext cx="2651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callables · triggers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743200" y="2034540"/>
            <a:ext cx="822960" cy="1257300"/>
          </a:xfrm>
          <a:prstGeom prst="line">
            <a:avLst/>
          </a:prstGeom>
          <a:ln w="22225">
            <a:solidFill>
              <a:srgbClr val="1D3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43200" y="3131820"/>
            <a:ext cx="822960" cy="406908"/>
          </a:xfrm>
          <a:prstGeom prst="line">
            <a:avLst/>
          </a:prstGeom>
          <a:ln w="22225">
            <a:solidFill>
              <a:srgbClr val="1D3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43200" y="3785616"/>
            <a:ext cx="822960" cy="443484"/>
          </a:xfrm>
          <a:prstGeom prst="line">
            <a:avLst/>
          </a:prstGeom>
          <a:ln w="22225">
            <a:solidFill>
              <a:srgbClr val="1D3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43200" y="4032504"/>
            <a:ext cx="822960" cy="1293875"/>
          </a:xfrm>
          <a:prstGeom prst="line">
            <a:avLst/>
          </a:prstGeom>
          <a:ln w="22225">
            <a:solidFill>
              <a:srgbClr val="1D3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92040" y="4663440"/>
            <a:ext cx="0" cy="228600"/>
          </a:xfrm>
          <a:prstGeom prst="line">
            <a:avLst/>
          </a:prstGeom>
          <a:ln w="22225">
            <a:solidFill>
              <a:srgbClr val="4754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06640" y="210312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19456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Cloud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523744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upload triggers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320040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29184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Google Gemini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621024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assistant · tour · CV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429768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38912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Cloud Messaging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718304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push to devices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539496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548640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Transcoder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815584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video processing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217920" y="2514600"/>
            <a:ext cx="1188720" cy="2560320"/>
          </a:xfrm>
          <a:prstGeom prst="line">
            <a:avLst/>
          </a:prstGeom>
          <a:ln w="22225">
            <a:solidFill>
              <a:srgbClr val="4754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217920" y="3611880"/>
            <a:ext cx="1188720" cy="1554480"/>
          </a:xfrm>
          <a:prstGeom prst="line">
            <a:avLst/>
          </a:prstGeom>
          <a:ln w="22225">
            <a:solidFill>
              <a:srgbClr val="4754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217920" y="4709160"/>
            <a:ext cx="1188720" cy="658368"/>
          </a:xfrm>
          <a:prstGeom prst="line">
            <a:avLst/>
          </a:prstGeom>
          <a:ln w="22225">
            <a:solidFill>
              <a:srgbClr val="4754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217920" y="5568696"/>
            <a:ext cx="1188720" cy="237744"/>
          </a:xfrm>
          <a:prstGeom prst="line">
            <a:avLst/>
          </a:prstGeom>
          <a:ln w="22225">
            <a:solidFill>
              <a:srgbClr val="4754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921240" y="160020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58400" y="1801368"/>
            <a:ext cx="201168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173736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01828"/>
                </a:solidFill>
                <a:latin typeface="Arial"/>
              </a:rPr>
              <a:t>Firebase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0" y="2167128"/>
            <a:ext cx="201168" cy="2011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32720" y="2103120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01828"/>
                </a:solidFill>
                <a:latin typeface="Arial"/>
              </a:rPr>
              <a:t>Google Cloud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526280"/>
            <a:ext cx="2194560" cy="1691640"/>
          </a:xfrm>
          <a:prstGeom prst="roundRect">
            <a:avLst>
              <a:gd name="adj" fmla="val 8000"/>
            </a:avLst>
          </a:prstGeom>
          <a:solidFill>
            <a:srgbClr val="DC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590288"/>
            <a:ext cx="199339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B4D"/>
                </a:solidFill>
                <a:latin typeface="Arial"/>
              </a:rPr>
              <a:t>Clients never write privileged data.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01828"/>
                </a:solidFill>
                <a:latin typeface="Arial"/>
              </a:rPr>
              <a:t>Every mutation goes through a callable that re-derives identity from the auth token.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STACK JUSTIFICATION · MOBILE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Why React 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100816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2560320"/>
                <a:gridCol w="2505456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React Native (chosen)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Flutter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.NET MAUI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Language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TypeScript — shared with our Cloud Functions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Dart — a second language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C#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Firebase support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Mature React Native Firebase modules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Mature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Weaker, community-led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One codebase for mobile + web admin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Yes, via react-native-web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UI toolkit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React Native Paper (Material Design 3)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Material built in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Platform controls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Team skills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JavaScript / TypeScript already known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New to the team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New to the team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440680"/>
            <a:ext cx="11100816" cy="777240"/>
          </a:xfrm>
          <a:prstGeom prst="roundRect">
            <a:avLst>
              <a:gd name="adj" fmla="val 15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766E"/>
                </a:solidFill>
                <a:latin typeface="Arial"/>
              </a:rPr>
              <a:t>Why: </a:t>
            </a:r>
            <a:r>
              <a:rPr sz="1500" b="0">
                <a:solidFill>
                  <a:srgbClr val="101828"/>
                </a:solidFill>
                <a:latin typeface="Arial"/>
              </a:rPr>
              <a:t>one language from app to backend, first-class Firebase support, and the same code runs the administrator panel in a browser.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STACK JUSTIFICATION ·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Why Firestore over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100815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474720"/>
                <a:gridCol w="3785615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we need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Cloud Firestore (chosen)</a:t>
                      </a:r>
                    </a:p>
                  </a:txBody>
                  <a:tcPr marL="91440" marR="91440" anchor="ctr">
                    <a:solidFill>
                      <a:srgbClr val="1D3A8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Profiles with many nested lists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Many join tables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One document per member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Real-time feed, chat, approvals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Needs a separate realtime layer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Built-in listeners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Per-audience privacy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Row-level security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Security rules tied to Auth claims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Spiky campus-scale traffic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Provision and tune servers</a:t>
                      </a:r>
                    </a:p>
                  </a:txBody>
                  <a:tcPr marL="91440" marR="9144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Serverless, scales automatically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Complex relational queries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1828"/>
                          </a:solidFill>
                          <a:latin typeface="Arial"/>
                        </a:rPr>
                        <a:t>Weaker — we denormalise and bound scans</a:t>
                      </a:r>
                    </a:p>
                  </a:txBody>
                  <a:tcPr marL="91440" marR="91440" anchor="ctr">
                    <a:solidFill>
                      <a:srgbClr val="DCE4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440680"/>
            <a:ext cx="11100816" cy="777240"/>
          </a:xfrm>
          <a:prstGeom prst="roundRect">
            <a:avLst>
              <a:gd name="adj" fmla="val 15000"/>
            </a:avLst>
          </a:prstGeom>
          <a:solidFill>
            <a:srgbClr val="FD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Arial"/>
              </a:rPr>
              <a:t>Trade-off we accepted: </a:t>
            </a:r>
            <a:r>
              <a:rPr sz="1500" b="0">
                <a:solidFill>
                  <a:srgbClr val="101828"/>
                </a:solidFill>
                <a:latin typeface="Arial"/>
              </a:rPr>
              <a:t>no joins or full-text search. We handle it with write-time feed fan-out and bounded server-side scans.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An analytics dashboard for every user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5724" y="1380744"/>
            <a:ext cx="1626232" cy="341071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stud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20" y="1463040"/>
            <a:ext cx="1461640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83717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Student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120640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D3A8A"/>
                </a:solidFill>
                <a:latin typeface="Arial"/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44068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01828"/>
                </a:solidFill>
                <a:latin typeface="Arial"/>
              </a:rPr>
              <a:t>Profile views, connections, applications, profile strength vs programme peers, top matches.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7644" y="1380744"/>
            <a:ext cx="1626232" cy="341071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0-employ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940" y="1463040"/>
            <a:ext cx="146164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7720" y="483717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Employer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120640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Arial"/>
              </a:rPr>
              <a:t>Employers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44068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01828"/>
                </a:solidFill>
                <a:latin typeface="Arial"/>
              </a:rPr>
              <a:t>Listings, applicants, views, conversion, reach, applicants by programme, candidate skills.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9564" y="1380744"/>
            <a:ext cx="1626232" cy="341071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9-admin-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860" y="1463040"/>
            <a:ext cx="1461640" cy="3246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49640" y="483717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Administrator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120640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B45309"/>
                </a:solidFill>
                <a:latin typeface="Arial"/>
              </a:rPr>
              <a:t>Administrators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44068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01828"/>
                </a:solidFill>
                <a:latin typeface="Arial"/>
              </a:rPr>
              <a:t>Users by role, active users, registrations, content volume, open flags, pending approvals.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POPIA and data privacy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661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19072"/>
            <a:ext cx="64008" cy="1911096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3A8A"/>
                </a:solidFill>
                <a:latin typeface="Arial"/>
              </a:rPr>
              <a:t>Per-audience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Each profile section can be shared with everyone, connections, students, alumni or employers.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554480"/>
            <a:ext cx="35661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719072"/>
            <a:ext cx="64008" cy="19110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82496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766E"/>
                </a:solidFill>
                <a:latin typeface="Arial"/>
              </a:rPr>
              <a:t>Server-side redaction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84832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Other members' profiles are never readable directly. The server returns only what that viewer may see.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54480"/>
            <a:ext cx="35661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719072"/>
            <a:ext cx="64008" cy="19110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682496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45309"/>
                </a:solidFill>
                <a:latin typeface="Arial"/>
              </a:rPr>
              <a:t>Data minimisation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084832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Student numbers never leave the server. The registry is never client-readable. Only a hash of CV text is kept.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42231"/>
            <a:ext cx="64008" cy="1911096"/>
          </a:xfrm>
          <a:prstGeom prst="rect">
            <a:avLst/>
          </a:prstGeom>
          <a:solidFill>
            <a:srgbClr val="0B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05655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1B4D"/>
                </a:solidFill>
                <a:latin typeface="Arial"/>
              </a:rPr>
              <a:t>No account enumeration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07991"/>
            <a:ext cx="507492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Alumni verification responds identically whether or not a record matched, and is rate-limited.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977639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4142231"/>
            <a:ext cx="64008" cy="19110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4105655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766E"/>
                </a:solidFill>
                <a:latin typeface="Arial"/>
              </a:rPr>
              <a:t>Accountability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507991"/>
            <a:ext cx="507492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1828"/>
                </a:solidFill>
                <a:latin typeface="Arial"/>
              </a:rPr>
              <a:t>Administrator actions are written to an audit log. Members can report posts, comments, profiles and recommendations.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Administrator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1D3A8A"/>
                </a:solidFill>
                <a:latin typeface="Arial"/>
              </a:rPr>
              <a:t>▪  </a:t>
            </a:r>
            <a:r>
              <a:rPr sz="1600" b="1">
                <a:solidFill>
                  <a:srgbClr val="101828"/>
                </a:solidFill>
                <a:latin typeface="Arial"/>
              </a:rPr>
              <a:t>Console hub </a:t>
            </a:r>
            <a:r>
              <a:rPr sz="1600" b="0">
                <a:solidFill>
                  <a:srgbClr val="101828"/>
                </a:solidFill>
                <a:latin typeface="Arial"/>
              </a:rPr>
              <a:t>with live counts and pending-work badges.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1D3A8A"/>
                </a:solidFill>
                <a:latin typeface="Arial"/>
              </a:rPr>
              <a:t>▪  </a:t>
            </a:r>
            <a:r>
              <a:rPr sz="1600" b="1">
                <a:solidFill>
                  <a:srgbClr val="101828"/>
                </a:solidFill>
                <a:latin typeface="Arial"/>
              </a:rPr>
              <a:t>User management: </a:t>
            </a:r>
            <a:r>
              <a:rPr sz="1600" b="0">
                <a:solidFill>
                  <a:srgbClr val="101828"/>
                </a:solidFill>
                <a:latin typeface="Arial"/>
              </a:rPr>
              <a:t>approve employers, suspend, reactivate or revoke accounts.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1D3A8A"/>
                </a:solidFill>
                <a:latin typeface="Arial"/>
              </a:rPr>
              <a:t>▪  </a:t>
            </a:r>
            <a:r>
              <a:rPr sz="1600" b="1">
                <a:solidFill>
                  <a:srgbClr val="101828"/>
                </a:solidFill>
                <a:latin typeface="Arial"/>
              </a:rPr>
              <a:t>Opportunity approvals </a:t>
            </a:r>
            <a:r>
              <a:rPr sz="1600" b="0">
                <a:solidFill>
                  <a:srgbClr val="101828"/>
                </a:solidFill>
                <a:latin typeface="Arial"/>
              </a:rPr>
              <a:t>that trigger matching when published.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1D3A8A"/>
                </a:solidFill>
                <a:latin typeface="Arial"/>
              </a:rPr>
              <a:t>▪  </a:t>
            </a:r>
            <a:r>
              <a:rPr sz="1600" b="1">
                <a:solidFill>
                  <a:srgbClr val="101828"/>
                </a:solidFill>
                <a:latin typeface="Arial"/>
              </a:rPr>
              <a:t>Moderation queue </a:t>
            </a:r>
            <a:r>
              <a:rPr sz="1600" b="0">
                <a:solidFill>
                  <a:srgbClr val="101828"/>
                </a:solidFill>
                <a:latin typeface="Arial"/>
              </a:rPr>
              <a:t>for reported posts, comments, profiles and recommendations.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1D3A8A"/>
                </a:solidFill>
                <a:latin typeface="Arial"/>
              </a:rPr>
              <a:t>▪  </a:t>
            </a:r>
            <a:r>
              <a:rPr sz="1600" b="1">
                <a:solidFill>
                  <a:srgbClr val="101828"/>
                </a:solidFill>
                <a:latin typeface="Arial"/>
              </a:rPr>
              <a:t>Event management: </a:t>
            </a:r>
            <a:r>
              <a:rPr sz="1600" b="0">
                <a:solidFill>
                  <a:srgbClr val="101828"/>
                </a:solidFill>
                <a:latin typeface="Arial"/>
              </a:rPr>
              <a:t>create, publish or cancel career fairs and workshops.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1D3A8A"/>
                </a:solidFill>
                <a:latin typeface="Arial"/>
              </a:rPr>
              <a:t>▪  </a:t>
            </a:r>
            <a:r>
              <a:rPr sz="1600" b="1">
                <a:solidFill>
                  <a:srgbClr val="101828"/>
                </a:solidFill>
                <a:latin typeface="Arial"/>
              </a:rPr>
              <a:t>Platform analytics </a:t>
            </a:r>
            <a:r>
              <a:rPr sz="1600" b="0">
                <a:solidFill>
                  <a:srgbClr val="101828"/>
                </a:solidFill>
                <a:latin typeface="Arial"/>
              </a:rPr>
              <a:t>and a broadcast centre to reach everyone or one role.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1D3A8A"/>
                </a:solidFill>
                <a:latin typeface="Arial"/>
              </a:rPr>
              <a:t>▪  </a:t>
            </a:r>
            <a:r>
              <a:rPr sz="1600" b="1">
                <a:solidFill>
                  <a:srgbClr val="101828"/>
                </a:solidFill>
                <a:latin typeface="Arial"/>
              </a:rPr>
              <a:t>Every action audited.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4500" y="1380744"/>
            <a:ext cx="2161481" cy="459943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4-admin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96" y="1463040"/>
            <a:ext cx="1996889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602589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Administrator console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1980" y="1380744"/>
            <a:ext cx="2161481" cy="4599432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7-admin-user-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276" y="1463040"/>
            <a:ext cx="1996889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6025896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75467"/>
                </a:solidFill>
                <a:latin typeface="Arial"/>
              </a:rPr>
              <a:t>User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01828"/>
                </a:solidFill>
                <a:latin typeface="Arial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75467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44068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64792"/>
            <a:ext cx="64008" cy="3419855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28216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766E"/>
                </a:solidFill>
                <a:latin typeface="Arial"/>
              </a:rPr>
              <a:t>Built for the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5074920" cy="3108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✓  Four verified roles with server-enforced access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✓  Portfolios, endorsements, recommendations, AI CV import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✓  Connections, messaging, ranked feed, moderation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✓  Opportunities with matching, events, career pathways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✓  AI assistant and AI-guided tour (Google Gemini)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✓  In-app inbox and push notifications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✓  Dashboards for students, employers and administrators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00200"/>
            <a:ext cx="544068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764792"/>
            <a:ext cx="64008" cy="341985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728216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45309"/>
                </a:solidFill>
                <a:latin typeface="Arial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130552"/>
            <a:ext cx="5074920" cy="3108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→  Signed Android and iOS release builds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→  Short-form video upload (transcoding function exists)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→  CV and profile photo file upload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→  Production deployment with App Check enforced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→  Full-text search for people and opportunities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1828"/>
                </a:solidFill>
                <a:latin typeface="Arial"/>
              </a:rPr>
              <a:t>→  Pilot with one campus and Richfield's Information Officer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1100816" cy="685800"/>
          </a:xfrm>
          <a:prstGeom prst="roundRect">
            <a:avLst>
              <a:gd name="adj" fmla="val 15000"/>
            </a:avLst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59552"/>
            <a:ext cx="1060704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Every "next step" builds on the same verified-identity foundation — none needs a redesign.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82296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DCE4FF"/>
                </a:solidFill>
                <a:latin typeface="Arial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Richfield Connect · Team GritSim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CE4FF"/>
                </a:solidFill>
                <a:latin typeface="Arial"/>
              </a:rPr>
              <a:t>Mosa  ·  Dali  ·  Ina  ·  Lindelani  ·  Evan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